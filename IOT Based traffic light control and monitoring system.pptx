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9240CED-B576-4F81-966E-D68157E6609A}">
  <a:tblStyle styleId="{89240CED-B576-4F81-966E-D68157E6609A}" styleName="Table_0">
    <a:wholeTbl>
      <a:tcTxStyle b="off" i="off">
        <a:font>
          <a:latin typeface="Calibri"/>
          <a:ea typeface="Calibri"/>
          <a:cs typeface="Calibri"/>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5" d="100"/>
          <a:sy n="75" d="100"/>
        </p:scale>
        <p:origin x="874"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6" name="Google Shape;9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0" name="Google Shape;120;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8" name="Google Shape;128;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4" name="Google Shape;134;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0" name="Google Shape;140;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6" name="Google Shape;146;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2" name="Google Shape;15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8" name="Google Shape;158;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4" name="Google Shape;164;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3"/>
        <p:cNvGrpSpPr/>
        <p:nvPr/>
      </p:nvGrpSpPr>
      <p:grpSpPr>
        <a:xfrm>
          <a:off x="0" y="0"/>
          <a:ext cx="0" cy="0"/>
          <a:chOff x="0" y="0"/>
          <a:chExt cx="0" cy="0"/>
        </a:xfrm>
      </p:grpSpPr>
      <p:sp>
        <p:nvSpPr>
          <p:cNvPr id="24" name="Google Shape;24;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8"/>
        <p:cNvGrpSpPr/>
        <p:nvPr/>
      </p:nvGrpSpPr>
      <p:grpSpPr>
        <a:xfrm>
          <a:off x="0" y="0"/>
          <a:ext cx="0" cy="0"/>
          <a:chOff x="0" y="0"/>
          <a:chExt cx="0" cy="0"/>
        </a:xfrm>
      </p:grpSpPr>
      <p:sp>
        <p:nvSpPr>
          <p:cNvPr id="29" name="Google Shape;29;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2"/>
        <p:cNvGrpSpPr/>
        <p:nvPr/>
      </p:nvGrpSpPr>
      <p:grpSpPr>
        <a:xfrm>
          <a:off x="0" y="0"/>
          <a:ext cx="0" cy="0"/>
          <a:chOff x="0" y="0"/>
          <a:chExt cx="0" cy="0"/>
        </a:xfrm>
      </p:grpSpPr>
      <p:sp>
        <p:nvSpPr>
          <p:cNvPr id="33" name="Google Shape;33;p6"/>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6"/>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5" name="Google Shape;35;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8"/>
        <p:cNvGrpSpPr/>
        <p:nvPr/>
      </p:nvGrpSpPr>
      <p:grpSpPr>
        <a:xfrm>
          <a:off x="0" y="0"/>
          <a:ext cx="0" cy="0"/>
          <a:chOff x="0" y="0"/>
          <a:chExt cx="0" cy="0"/>
        </a:xfrm>
      </p:grpSpPr>
      <p:sp>
        <p:nvSpPr>
          <p:cNvPr id="39" name="Google Shape;39;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7"/>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1" name="Google Shape;41;p7"/>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5"/>
        <p:cNvGrpSpPr/>
        <p:nvPr/>
      </p:nvGrpSpPr>
      <p:grpSpPr>
        <a:xfrm>
          <a:off x="0" y="0"/>
          <a:ext cx="0" cy="0"/>
          <a:chOff x="0" y="0"/>
          <a:chExt cx="0" cy="0"/>
        </a:xfrm>
      </p:grpSpPr>
      <p:sp>
        <p:nvSpPr>
          <p:cNvPr id="46" name="Google Shape;46;p8"/>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8"/>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8" name="Google Shape;48;p8"/>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8"/>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0" name="Google Shape;50;p8"/>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5183188" y="987425"/>
            <a:ext cx="6172200" cy="4873625"/>
          </a:xfrm>
          <a:prstGeom prst="rect">
            <a:avLst/>
          </a:prstGeom>
          <a:noFill/>
          <a:ln>
            <a:noFill/>
          </a:ln>
        </p:spPr>
      </p:sp>
      <p:sp>
        <p:nvSpPr>
          <p:cNvPr id="64" name="Google Shape;64;p1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3"/>
          <p:cNvSpPr txBox="1">
            <a:spLocks noGrp="1"/>
          </p:cNvSpPr>
          <p:nvPr>
            <p:ph type="ctrTitle"/>
          </p:nvPr>
        </p:nvSpPr>
        <p:spPr>
          <a:xfrm>
            <a:off x="252450" y="2221389"/>
            <a:ext cx="11687100" cy="2081371"/>
          </a:xfrm>
          <a:prstGeom prst="rect">
            <a:avLst/>
          </a:prstGeom>
          <a:noFill/>
          <a:ln>
            <a:noFill/>
          </a:ln>
        </p:spPr>
        <p:txBody>
          <a:bodyPr spcFirstLastPara="1" wrap="square" lIns="91425" tIns="45700" rIns="91425" bIns="45700" anchor="b" anchorCtr="0">
            <a:normAutofit fontScale="90000"/>
          </a:bodyPr>
          <a:lstStyle/>
          <a:p>
            <a:pPr marL="0" lvl="0" indent="0" algn="ctr" rtl="0">
              <a:spcBef>
                <a:spcPts val="0"/>
              </a:spcBef>
              <a:spcAft>
                <a:spcPts val="0"/>
              </a:spcAft>
              <a:buNone/>
            </a:pPr>
            <a:r>
              <a:rPr lang="en-US" sz="5400" dirty="0">
                <a:latin typeface="Times New Roman" panose="02020603050405020304" pitchFamily="18" charset="0"/>
                <a:cs typeface="Times New Roman" panose="02020603050405020304" pitchFamily="18" charset="0"/>
              </a:rPr>
              <a:t>IoT based Traffic Light Control and Monitoring System using ESP32, AWS and Blynk IoT</a:t>
            </a:r>
            <a:endParaRPr sz="9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t>INTRODUCTION</a:t>
            </a:r>
            <a:r>
              <a:rPr lang="en-US"/>
              <a:t> </a:t>
            </a:r>
            <a:endParaRPr/>
          </a:p>
        </p:txBody>
      </p:sp>
      <p:sp>
        <p:nvSpPr>
          <p:cNvPr id="93" name="Google Shape;93;p1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lnSpcReduction="10000"/>
          </a:bodyPr>
          <a:lstStyle/>
          <a:p>
            <a:pPr marL="0" lvl="0" indent="0" algn="l" rtl="0">
              <a:lnSpc>
                <a:spcPct val="115000"/>
              </a:lnSpc>
              <a:spcBef>
                <a:spcPts val="0"/>
              </a:spcBef>
              <a:spcAft>
                <a:spcPts val="1200"/>
              </a:spcAft>
              <a:buClr>
                <a:schemeClr val="dk1"/>
              </a:buClr>
              <a:buSzPts val="523"/>
              <a:buFont typeface="Arial"/>
              <a:buNone/>
            </a:pPr>
            <a:r>
              <a:rPr lang="en-US" dirty="0">
                <a:solidFill>
                  <a:srgbClr val="233A44"/>
                </a:solidFill>
                <a:latin typeface="Times New Roman" panose="02020603050405020304" pitchFamily="18" charset="0"/>
                <a:cs typeface="Times New Roman" panose="02020603050405020304" pitchFamily="18" charset="0"/>
              </a:rPr>
              <a:t>In the realm of smart city infrastructure, IoT-based traffic monitoring systems play a pivotal role in ensuring smooth traffic flow and enhancing road safety. Our project utilizes the ESP32 microcontroller along with ultrasonic sensors to detect vehicle presence at traffic signals. The collected data is then transmitted to an AWS server for real-time analysis and visualization. This innovative system not only provides valuable insights for traffic management but also lays the foundation for a more efficient and interconnected urban transportation network.</a:t>
            </a:r>
            <a:endParaRPr sz="1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5"/>
          <p:cNvSpPr/>
          <p:nvPr/>
        </p:nvSpPr>
        <p:spPr>
          <a:xfrm>
            <a:off x="5393967" y="4048065"/>
            <a:ext cx="978010" cy="1637969"/>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ESP32</a:t>
            </a:r>
            <a:endParaRPr sz="1800">
              <a:solidFill>
                <a:schemeClr val="lt1"/>
              </a:solidFill>
              <a:latin typeface="Calibri"/>
              <a:ea typeface="Calibri"/>
              <a:cs typeface="Calibri"/>
              <a:sym typeface="Calibri"/>
            </a:endParaRPr>
          </a:p>
        </p:txBody>
      </p:sp>
      <p:sp>
        <p:nvSpPr>
          <p:cNvPr id="99" name="Google Shape;99;p15"/>
          <p:cNvSpPr/>
          <p:nvPr/>
        </p:nvSpPr>
        <p:spPr>
          <a:xfrm>
            <a:off x="2364519" y="3205227"/>
            <a:ext cx="2107096" cy="675861"/>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Ultrasonic sensor(for signal 1)</a:t>
            </a:r>
            <a:endParaRPr sz="1800">
              <a:solidFill>
                <a:schemeClr val="lt1"/>
              </a:solidFill>
              <a:latin typeface="Calibri"/>
              <a:ea typeface="Calibri"/>
              <a:cs typeface="Calibri"/>
              <a:sym typeface="Calibri"/>
            </a:endParaRPr>
          </a:p>
        </p:txBody>
      </p:sp>
      <p:sp>
        <p:nvSpPr>
          <p:cNvPr id="100" name="Google Shape;100;p15"/>
          <p:cNvSpPr/>
          <p:nvPr/>
        </p:nvSpPr>
        <p:spPr>
          <a:xfrm>
            <a:off x="2364519" y="4195166"/>
            <a:ext cx="2107096" cy="675861"/>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Ultrasonic sensor(for signal 2)</a:t>
            </a:r>
            <a:endParaRPr sz="1800">
              <a:solidFill>
                <a:schemeClr val="lt1"/>
              </a:solidFill>
              <a:latin typeface="Calibri"/>
              <a:ea typeface="Calibri"/>
              <a:cs typeface="Calibri"/>
              <a:sym typeface="Calibri"/>
            </a:endParaRPr>
          </a:p>
        </p:txBody>
      </p:sp>
      <p:sp>
        <p:nvSpPr>
          <p:cNvPr id="101" name="Google Shape;101;p15"/>
          <p:cNvSpPr/>
          <p:nvPr/>
        </p:nvSpPr>
        <p:spPr>
          <a:xfrm>
            <a:off x="2364519" y="4994281"/>
            <a:ext cx="2107096" cy="500929"/>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Clr>
                <a:schemeClr val="dk1"/>
              </a:buClr>
              <a:buFont typeface="Arial"/>
              <a:buNone/>
            </a:pPr>
            <a:r>
              <a:rPr lang="en-US" sz="1800">
                <a:solidFill>
                  <a:schemeClr val="lt1"/>
                </a:solidFill>
                <a:latin typeface="Calibri"/>
                <a:ea typeface="Calibri"/>
                <a:cs typeface="Calibri"/>
                <a:sym typeface="Calibri"/>
              </a:rPr>
              <a:t>Ultrasonic sensor(for signal 3)</a:t>
            </a:r>
            <a:endParaRPr sz="1800">
              <a:solidFill>
                <a:schemeClr val="lt1"/>
              </a:solidFill>
              <a:latin typeface="Calibri"/>
              <a:ea typeface="Calibri"/>
              <a:cs typeface="Calibri"/>
              <a:sym typeface="Calibri"/>
            </a:endParaRPr>
          </a:p>
        </p:txBody>
      </p:sp>
      <p:sp>
        <p:nvSpPr>
          <p:cNvPr id="102" name="Google Shape;102;p15"/>
          <p:cNvSpPr/>
          <p:nvPr/>
        </p:nvSpPr>
        <p:spPr>
          <a:xfrm>
            <a:off x="2364519" y="5734404"/>
            <a:ext cx="2107096" cy="500930"/>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Clr>
                <a:schemeClr val="dk1"/>
              </a:buClr>
              <a:buFont typeface="Arial"/>
              <a:buNone/>
            </a:pPr>
            <a:r>
              <a:rPr lang="en-US" sz="1800">
                <a:solidFill>
                  <a:schemeClr val="lt1"/>
                </a:solidFill>
                <a:latin typeface="Calibri"/>
                <a:ea typeface="Calibri"/>
                <a:cs typeface="Calibri"/>
                <a:sym typeface="Calibri"/>
              </a:rPr>
              <a:t>Ultrasonic sensor(for signal 4)</a:t>
            </a:r>
            <a:endParaRPr/>
          </a:p>
        </p:txBody>
      </p:sp>
      <p:sp>
        <p:nvSpPr>
          <p:cNvPr id="103" name="Google Shape;103;p15"/>
          <p:cNvSpPr/>
          <p:nvPr/>
        </p:nvSpPr>
        <p:spPr>
          <a:xfrm>
            <a:off x="2364432" y="1357893"/>
            <a:ext cx="2107200" cy="501000"/>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LED SIGNAL 1 </a:t>
            </a:r>
            <a:endParaRPr sz="1800">
              <a:solidFill>
                <a:schemeClr val="lt1"/>
              </a:solidFill>
              <a:latin typeface="Calibri"/>
              <a:ea typeface="Calibri"/>
              <a:cs typeface="Calibri"/>
              <a:sym typeface="Calibri"/>
            </a:endParaRPr>
          </a:p>
        </p:txBody>
      </p:sp>
      <p:sp>
        <p:nvSpPr>
          <p:cNvPr id="104" name="Google Shape;104;p15"/>
          <p:cNvSpPr/>
          <p:nvPr/>
        </p:nvSpPr>
        <p:spPr>
          <a:xfrm>
            <a:off x="2364519" y="2097347"/>
            <a:ext cx="2107096" cy="500930"/>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Clr>
                <a:schemeClr val="dk1"/>
              </a:buClr>
              <a:buFont typeface="Arial"/>
              <a:buNone/>
            </a:pPr>
            <a:r>
              <a:rPr lang="en-US" sz="1800">
                <a:solidFill>
                  <a:schemeClr val="lt1"/>
                </a:solidFill>
                <a:latin typeface="Calibri"/>
                <a:ea typeface="Calibri"/>
                <a:cs typeface="Calibri"/>
                <a:sym typeface="Calibri"/>
              </a:rPr>
              <a:t>LED SIGNAL 2</a:t>
            </a:r>
            <a:endParaRPr sz="1800">
              <a:solidFill>
                <a:schemeClr val="lt1"/>
              </a:solidFill>
              <a:latin typeface="Calibri"/>
              <a:ea typeface="Calibri"/>
              <a:cs typeface="Calibri"/>
              <a:sym typeface="Calibri"/>
            </a:endParaRPr>
          </a:p>
        </p:txBody>
      </p:sp>
      <p:sp>
        <p:nvSpPr>
          <p:cNvPr id="105" name="Google Shape;105;p15"/>
          <p:cNvSpPr/>
          <p:nvPr/>
        </p:nvSpPr>
        <p:spPr>
          <a:xfrm>
            <a:off x="7857060" y="4378043"/>
            <a:ext cx="1542553" cy="978011"/>
          </a:xfrm>
          <a:prstGeom prst="cloud">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Cloud </a:t>
            </a:r>
            <a:endParaRPr sz="1800">
              <a:solidFill>
                <a:schemeClr val="lt1"/>
              </a:solidFill>
              <a:latin typeface="Calibri"/>
              <a:ea typeface="Calibri"/>
              <a:cs typeface="Calibri"/>
              <a:sym typeface="Calibri"/>
            </a:endParaRPr>
          </a:p>
        </p:txBody>
      </p:sp>
      <p:cxnSp>
        <p:nvCxnSpPr>
          <p:cNvPr id="106" name="Google Shape;106;p15"/>
          <p:cNvCxnSpPr>
            <a:endCxn id="99" idx="3"/>
          </p:cNvCxnSpPr>
          <p:nvPr/>
        </p:nvCxnSpPr>
        <p:spPr>
          <a:xfrm rot="10800000">
            <a:off x="4471615" y="3543157"/>
            <a:ext cx="922500" cy="727500"/>
          </a:xfrm>
          <a:prstGeom prst="bentConnector3">
            <a:avLst>
              <a:gd name="adj1" fmla="val 50000"/>
            </a:avLst>
          </a:prstGeom>
          <a:noFill/>
          <a:ln w="9525" cap="flat" cmpd="sng">
            <a:solidFill>
              <a:schemeClr val="accent1"/>
            </a:solidFill>
            <a:prstDash val="solid"/>
            <a:miter lim="800000"/>
            <a:headEnd type="none" w="sm" len="sm"/>
            <a:tailEnd type="triangle" w="med" len="med"/>
          </a:ln>
        </p:spPr>
      </p:cxnSp>
      <p:cxnSp>
        <p:nvCxnSpPr>
          <p:cNvPr id="107" name="Google Shape;107;p15"/>
          <p:cNvCxnSpPr/>
          <p:nvPr/>
        </p:nvCxnSpPr>
        <p:spPr>
          <a:xfrm rot="10800000">
            <a:off x="4471615" y="4613936"/>
            <a:ext cx="922352" cy="9278"/>
          </a:xfrm>
          <a:prstGeom prst="straightConnector1">
            <a:avLst/>
          </a:prstGeom>
          <a:noFill/>
          <a:ln w="9525" cap="flat" cmpd="sng">
            <a:solidFill>
              <a:schemeClr val="accent1"/>
            </a:solidFill>
            <a:prstDash val="solid"/>
            <a:miter lim="800000"/>
            <a:headEnd type="none" w="sm" len="sm"/>
            <a:tailEnd type="triangle" w="med" len="med"/>
          </a:ln>
        </p:spPr>
      </p:cxnSp>
      <p:cxnSp>
        <p:nvCxnSpPr>
          <p:cNvPr id="108" name="Google Shape;108;p15"/>
          <p:cNvCxnSpPr/>
          <p:nvPr/>
        </p:nvCxnSpPr>
        <p:spPr>
          <a:xfrm rot="10800000">
            <a:off x="4471615" y="5209621"/>
            <a:ext cx="922352" cy="9278"/>
          </a:xfrm>
          <a:prstGeom prst="straightConnector1">
            <a:avLst/>
          </a:prstGeom>
          <a:noFill/>
          <a:ln w="9525" cap="flat" cmpd="sng">
            <a:solidFill>
              <a:schemeClr val="accent1"/>
            </a:solidFill>
            <a:prstDash val="solid"/>
            <a:miter lim="800000"/>
            <a:headEnd type="none" w="sm" len="sm"/>
            <a:tailEnd type="triangle" w="med" len="med"/>
          </a:ln>
        </p:spPr>
      </p:cxnSp>
      <p:cxnSp>
        <p:nvCxnSpPr>
          <p:cNvPr id="109" name="Google Shape;109;p15"/>
          <p:cNvCxnSpPr>
            <a:endCxn id="102" idx="3"/>
          </p:cNvCxnSpPr>
          <p:nvPr/>
        </p:nvCxnSpPr>
        <p:spPr>
          <a:xfrm flipH="1">
            <a:off x="4471615" y="5434369"/>
            <a:ext cx="922500" cy="550500"/>
          </a:xfrm>
          <a:prstGeom prst="bentConnector3">
            <a:avLst>
              <a:gd name="adj1" fmla="val 50000"/>
            </a:avLst>
          </a:prstGeom>
          <a:noFill/>
          <a:ln w="9525" cap="flat" cmpd="sng">
            <a:solidFill>
              <a:schemeClr val="accent1"/>
            </a:solidFill>
            <a:prstDash val="solid"/>
            <a:miter lim="800000"/>
            <a:headEnd type="none" w="sm" len="sm"/>
            <a:tailEnd type="triangle" w="med" len="med"/>
          </a:ln>
        </p:spPr>
      </p:cxnSp>
      <p:cxnSp>
        <p:nvCxnSpPr>
          <p:cNvPr id="110" name="Google Shape;110;p15"/>
          <p:cNvCxnSpPr>
            <a:stCxn id="98" idx="3"/>
            <a:endCxn id="105" idx="2"/>
          </p:cNvCxnSpPr>
          <p:nvPr/>
        </p:nvCxnSpPr>
        <p:spPr>
          <a:xfrm>
            <a:off x="6371977" y="4867050"/>
            <a:ext cx="1489800" cy="0"/>
          </a:xfrm>
          <a:prstGeom prst="straightConnector1">
            <a:avLst/>
          </a:prstGeom>
          <a:noFill/>
          <a:ln w="9525" cap="flat" cmpd="sng">
            <a:solidFill>
              <a:schemeClr val="accent1"/>
            </a:solidFill>
            <a:prstDash val="solid"/>
            <a:miter lim="800000"/>
            <a:headEnd type="triangle" w="med" len="med"/>
            <a:tailEnd type="triangle" w="med" len="med"/>
          </a:ln>
        </p:spPr>
      </p:cxnSp>
      <p:sp>
        <p:nvSpPr>
          <p:cNvPr id="111" name="Google Shape;111;p15"/>
          <p:cNvSpPr txBox="1">
            <a:spLocks noGrp="1"/>
          </p:cNvSpPr>
          <p:nvPr>
            <p:ph type="title"/>
          </p:nvPr>
        </p:nvSpPr>
        <p:spPr>
          <a:xfrm>
            <a:off x="495300" y="108687"/>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Calibri"/>
              <a:buNone/>
            </a:pPr>
            <a:r>
              <a:rPr lang="en-US" sz="4000" b="1"/>
              <a:t>Block diagram</a:t>
            </a:r>
            <a:endParaRPr sz="4000" b="1"/>
          </a:p>
        </p:txBody>
      </p:sp>
      <p:sp>
        <p:nvSpPr>
          <p:cNvPr id="112" name="Google Shape;112;p15"/>
          <p:cNvSpPr/>
          <p:nvPr/>
        </p:nvSpPr>
        <p:spPr>
          <a:xfrm>
            <a:off x="7857050" y="1357900"/>
            <a:ext cx="2231700" cy="501000"/>
          </a:xfrm>
          <a:prstGeom prst="roundRect">
            <a:avLst>
              <a:gd name="adj" fmla="val 16667"/>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Font typeface="Arial"/>
              <a:buNone/>
            </a:pPr>
            <a:r>
              <a:rPr lang="en-US" sz="1800">
                <a:solidFill>
                  <a:schemeClr val="lt1"/>
                </a:solidFill>
                <a:latin typeface="Calibri"/>
                <a:ea typeface="Calibri"/>
                <a:cs typeface="Calibri"/>
                <a:sym typeface="Calibri"/>
              </a:rPr>
              <a:t>LED SIGNAL 3</a:t>
            </a:r>
            <a:endParaRPr>
              <a:latin typeface="Calibri"/>
              <a:ea typeface="Calibri"/>
              <a:cs typeface="Calibri"/>
              <a:sym typeface="Calibri"/>
            </a:endParaRPr>
          </a:p>
        </p:txBody>
      </p:sp>
      <p:sp>
        <p:nvSpPr>
          <p:cNvPr id="113" name="Google Shape;113;p15"/>
          <p:cNvSpPr/>
          <p:nvPr/>
        </p:nvSpPr>
        <p:spPr>
          <a:xfrm>
            <a:off x="7857050" y="2097313"/>
            <a:ext cx="2231700" cy="501000"/>
          </a:xfrm>
          <a:prstGeom prst="roundRect">
            <a:avLst>
              <a:gd name="adj" fmla="val 16667"/>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Font typeface="Arial"/>
              <a:buNone/>
            </a:pPr>
            <a:r>
              <a:rPr lang="en-US" sz="1800">
                <a:solidFill>
                  <a:schemeClr val="lt1"/>
                </a:solidFill>
                <a:latin typeface="Calibri"/>
                <a:ea typeface="Calibri"/>
                <a:cs typeface="Calibri"/>
                <a:sym typeface="Calibri"/>
              </a:rPr>
              <a:t>LED SIGNAL 4</a:t>
            </a:r>
            <a:endParaRPr>
              <a:latin typeface="Calibri"/>
              <a:ea typeface="Calibri"/>
              <a:cs typeface="Calibri"/>
              <a:sym typeface="Calibri"/>
            </a:endParaRPr>
          </a:p>
        </p:txBody>
      </p:sp>
      <p:cxnSp>
        <p:nvCxnSpPr>
          <p:cNvPr id="114" name="Google Shape;114;p15"/>
          <p:cNvCxnSpPr>
            <a:stCxn id="98" idx="0"/>
            <a:endCxn id="104" idx="3"/>
          </p:cNvCxnSpPr>
          <p:nvPr/>
        </p:nvCxnSpPr>
        <p:spPr>
          <a:xfrm rot="10800000">
            <a:off x="4471472" y="2347665"/>
            <a:ext cx="1411500" cy="1700400"/>
          </a:xfrm>
          <a:prstGeom prst="straightConnector1">
            <a:avLst/>
          </a:prstGeom>
          <a:noFill/>
          <a:ln w="9525" cap="flat" cmpd="sng">
            <a:solidFill>
              <a:schemeClr val="accent1"/>
            </a:solidFill>
            <a:prstDash val="solid"/>
            <a:round/>
            <a:headEnd type="none" w="med" len="med"/>
            <a:tailEnd type="triangle" w="med" len="med"/>
          </a:ln>
        </p:spPr>
      </p:cxnSp>
      <p:cxnSp>
        <p:nvCxnSpPr>
          <p:cNvPr id="115" name="Google Shape;115;p15"/>
          <p:cNvCxnSpPr>
            <a:stCxn id="98" idx="0"/>
            <a:endCxn id="103" idx="3"/>
          </p:cNvCxnSpPr>
          <p:nvPr/>
        </p:nvCxnSpPr>
        <p:spPr>
          <a:xfrm rot="10800000">
            <a:off x="4471772" y="1608465"/>
            <a:ext cx="1411200" cy="2439600"/>
          </a:xfrm>
          <a:prstGeom prst="straightConnector1">
            <a:avLst/>
          </a:prstGeom>
          <a:noFill/>
          <a:ln w="9525" cap="flat" cmpd="sng">
            <a:solidFill>
              <a:schemeClr val="accent1"/>
            </a:solidFill>
            <a:prstDash val="solid"/>
            <a:round/>
            <a:headEnd type="none" w="med" len="med"/>
            <a:tailEnd type="triangle" w="med" len="med"/>
          </a:ln>
        </p:spPr>
      </p:cxnSp>
      <p:cxnSp>
        <p:nvCxnSpPr>
          <p:cNvPr id="116" name="Google Shape;116;p15"/>
          <p:cNvCxnSpPr>
            <a:stCxn id="98" idx="0"/>
            <a:endCxn id="113" idx="1"/>
          </p:cNvCxnSpPr>
          <p:nvPr/>
        </p:nvCxnSpPr>
        <p:spPr>
          <a:xfrm rot="10800000" flipH="1">
            <a:off x="5882972" y="2347665"/>
            <a:ext cx="1974000" cy="1700400"/>
          </a:xfrm>
          <a:prstGeom prst="straightConnector1">
            <a:avLst/>
          </a:prstGeom>
          <a:noFill/>
          <a:ln w="9525" cap="flat" cmpd="sng">
            <a:solidFill>
              <a:schemeClr val="accent1"/>
            </a:solidFill>
            <a:prstDash val="solid"/>
            <a:round/>
            <a:headEnd type="none" w="med" len="med"/>
            <a:tailEnd type="triangle" w="med" len="med"/>
          </a:ln>
        </p:spPr>
      </p:cxnSp>
      <p:cxnSp>
        <p:nvCxnSpPr>
          <p:cNvPr id="117" name="Google Shape;117;p15"/>
          <p:cNvCxnSpPr>
            <a:stCxn id="98" idx="0"/>
            <a:endCxn id="112" idx="1"/>
          </p:cNvCxnSpPr>
          <p:nvPr/>
        </p:nvCxnSpPr>
        <p:spPr>
          <a:xfrm rot="10800000" flipH="1">
            <a:off x="5882972" y="1608465"/>
            <a:ext cx="1974000" cy="2439600"/>
          </a:xfrm>
          <a:prstGeom prst="straightConnector1">
            <a:avLst/>
          </a:prstGeom>
          <a:noFill/>
          <a:ln w="9525" cap="flat" cmpd="sng">
            <a:solidFill>
              <a:schemeClr val="accent1"/>
            </a:solidFill>
            <a:prstDash val="solid"/>
            <a:round/>
            <a:headEnd type="none" w="med" len="med"/>
            <a:tailEnd type="triangle" w="med" len="med"/>
          </a:ln>
        </p:spPr>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16"/>
          <p:cNvSpPr txBox="1">
            <a:spLocks noGrp="1"/>
          </p:cNvSpPr>
          <p:nvPr>
            <p:ph type="title"/>
          </p:nvPr>
        </p:nvSpPr>
        <p:spPr>
          <a:xfrm>
            <a:off x="1451579" y="644645"/>
            <a:ext cx="3582537" cy="1049235"/>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alibri"/>
              <a:buNone/>
            </a:pPr>
            <a:r>
              <a:rPr lang="en-US" b="1"/>
              <a:t>HARDWARE</a:t>
            </a:r>
            <a:br>
              <a:rPr lang="en-US" b="1"/>
            </a:br>
            <a:r>
              <a:rPr lang="en-US" b="1"/>
              <a:t>COMPONENTS</a:t>
            </a:r>
            <a:endParaRPr b="1"/>
          </a:p>
        </p:txBody>
      </p:sp>
      <p:sp>
        <p:nvSpPr>
          <p:cNvPr id="123" name="Google Shape;123;p16"/>
          <p:cNvSpPr txBox="1">
            <a:spLocks noGrp="1"/>
          </p:cNvSpPr>
          <p:nvPr>
            <p:ph type="body" idx="1"/>
          </p:nvPr>
        </p:nvSpPr>
        <p:spPr>
          <a:xfrm>
            <a:off x="1451579" y="2015731"/>
            <a:ext cx="9603300" cy="4011300"/>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dirty="0"/>
              <a:t> Esp32 microcontroller </a:t>
            </a:r>
            <a:endParaRPr dirty="0"/>
          </a:p>
          <a:p>
            <a:pPr marL="228600" lvl="0" indent="-228600" algn="l" rtl="0">
              <a:lnSpc>
                <a:spcPct val="90000"/>
              </a:lnSpc>
              <a:spcBef>
                <a:spcPts val="1000"/>
              </a:spcBef>
              <a:spcAft>
                <a:spcPts val="0"/>
              </a:spcAft>
              <a:buClr>
                <a:schemeClr val="dk1"/>
              </a:buClr>
              <a:buSzPts val="2800"/>
              <a:buChar char="•"/>
            </a:pPr>
            <a:r>
              <a:rPr lang="en-US" dirty="0"/>
              <a:t>Ultrasonic sensors</a:t>
            </a:r>
            <a:endParaRPr dirty="0"/>
          </a:p>
          <a:p>
            <a:pPr marL="228600" lvl="0" indent="-228600" algn="l" rtl="0">
              <a:lnSpc>
                <a:spcPct val="90000"/>
              </a:lnSpc>
              <a:spcBef>
                <a:spcPts val="1000"/>
              </a:spcBef>
              <a:spcAft>
                <a:spcPts val="0"/>
              </a:spcAft>
              <a:buClr>
                <a:schemeClr val="dk1"/>
              </a:buClr>
              <a:buSzPts val="2800"/>
              <a:buChar char="•"/>
            </a:pPr>
            <a:r>
              <a:rPr lang="en-US" dirty="0"/>
              <a:t>Led lights (</a:t>
            </a:r>
            <a:r>
              <a:rPr lang="en-US" dirty="0" err="1"/>
              <a:t>Red,Yellow,Green</a:t>
            </a:r>
            <a:r>
              <a:rPr lang="en-US" dirty="0"/>
              <a:t>)</a:t>
            </a:r>
            <a:endParaRPr dirty="0"/>
          </a:p>
          <a:p>
            <a:pPr marL="228600" lvl="0" indent="-228600" algn="l" rtl="0">
              <a:lnSpc>
                <a:spcPct val="90000"/>
              </a:lnSpc>
              <a:spcBef>
                <a:spcPts val="1000"/>
              </a:spcBef>
              <a:spcAft>
                <a:spcPts val="0"/>
              </a:spcAft>
              <a:buClr>
                <a:schemeClr val="dk1"/>
              </a:buClr>
              <a:buSzPts val="2800"/>
              <a:buChar char="•"/>
            </a:pPr>
            <a:r>
              <a:rPr lang="en-US" dirty="0"/>
              <a:t>Resistors</a:t>
            </a:r>
            <a:endParaRPr dirty="0"/>
          </a:p>
          <a:p>
            <a:pPr marL="228600" lvl="0" indent="-165100" algn="l" rtl="0">
              <a:lnSpc>
                <a:spcPct val="90000"/>
              </a:lnSpc>
              <a:spcBef>
                <a:spcPts val="1000"/>
              </a:spcBef>
              <a:spcAft>
                <a:spcPts val="0"/>
              </a:spcAft>
              <a:buSzPts val="1800"/>
              <a:buChar char="•"/>
            </a:pPr>
            <a:r>
              <a:rPr lang="en-US" dirty="0"/>
              <a:t>Battery</a:t>
            </a:r>
            <a:endParaRPr dirty="0"/>
          </a:p>
          <a:p>
            <a:pPr marL="0" lvl="0" indent="0" algn="l" rtl="0">
              <a:lnSpc>
                <a:spcPct val="90000"/>
              </a:lnSpc>
              <a:spcBef>
                <a:spcPts val="1000"/>
              </a:spcBef>
              <a:spcAft>
                <a:spcPts val="0"/>
              </a:spcAft>
              <a:buClr>
                <a:schemeClr val="dk1"/>
              </a:buClr>
              <a:buSzPts val="2800"/>
              <a:buNone/>
            </a:pPr>
            <a:endParaRPr dirty="0"/>
          </a:p>
        </p:txBody>
      </p:sp>
      <p:sp>
        <p:nvSpPr>
          <p:cNvPr id="124" name="Google Shape;124;p16"/>
          <p:cNvSpPr txBox="1"/>
          <p:nvPr/>
        </p:nvSpPr>
        <p:spPr>
          <a:xfrm>
            <a:off x="6577255" y="584487"/>
            <a:ext cx="3791388" cy="7078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000" b="1">
                <a:solidFill>
                  <a:schemeClr val="dk1"/>
                </a:solidFill>
                <a:latin typeface="Calibri"/>
                <a:ea typeface="Calibri"/>
                <a:cs typeface="Calibri"/>
                <a:sym typeface="Calibri"/>
              </a:rPr>
              <a:t>SOFTWARES</a:t>
            </a:r>
            <a:endParaRPr sz="4000" b="1">
              <a:solidFill>
                <a:schemeClr val="dk1"/>
              </a:solidFill>
              <a:latin typeface="Calibri"/>
              <a:ea typeface="Calibri"/>
              <a:cs typeface="Calibri"/>
              <a:sym typeface="Calibri"/>
            </a:endParaRPr>
          </a:p>
        </p:txBody>
      </p:sp>
      <p:sp>
        <p:nvSpPr>
          <p:cNvPr id="125" name="Google Shape;125;p16"/>
          <p:cNvSpPr txBox="1"/>
          <p:nvPr/>
        </p:nvSpPr>
        <p:spPr>
          <a:xfrm>
            <a:off x="6587612" y="1920316"/>
            <a:ext cx="3112500" cy="3338100"/>
          </a:xfrm>
          <a:prstGeom prst="rect">
            <a:avLst/>
          </a:prstGeom>
          <a:noFill/>
          <a:ln>
            <a:noFill/>
          </a:ln>
        </p:spPr>
        <p:txBody>
          <a:bodyPr spcFirstLastPara="1" wrap="square" lIns="91425" tIns="45700" rIns="91425" bIns="45700" anchor="t" anchorCtr="0">
            <a:spAutoFit/>
          </a:bodyPr>
          <a:lstStyle/>
          <a:p>
            <a:pPr marL="228600" marR="0" lvl="0" indent="-228600" algn="l" rtl="0">
              <a:lnSpc>
                <a:spcPct val="90000"/>
              </a:lnSpc>
              <a:spcBef>
                <a:spcPts val="0"/>
              </a:spcBef>
              <a:spcAft>
                <a:spcPts val="0"/>
              </a:spcAft>
              <a:buClr>
                <a:srgbClr val="C00000"/>
              </a:buClr>
              <a:buSzPts val="2800"/>
              <a:buFont typeface="Arial"/>
              <a:buChar char="•"/>
            </a:pPr>
            <a:r>
              <a:rPr lang="en-US" sz="2800" dirty="0">
                <a:solidFill>
                  <a:schemeClr val="dk1"/>
                </a:solidFill>
                <a:latin typeface="Calibri"/>
                <a:ea typeface="Calibri"/>
                <a:cs typeface="Calibri"/>
                <a:sym typeface="Calibri"/>
              </a:rPr>
              <a:t>Arduino ide</a:t>
            </a:r>
            <a:endParaRPr dirty="0"/>
          </a:p>
          <a:p>
            <a:pPr marL="228600" marR="0" lvl="0" indent="-228600" algn="l" rtl="0">
              <a:lnSpc>
                <a:spcPct val="90000"/>
              </a:lnSpc>
              <a:spcBef>
                <a:spcPts val="1000"/>
              </a:spcBef>
              <a:spcAft>
                <a:spcPts val="0"/>
              </a:spcAft>
              <a:buClr>
                <a:srgbClr val="C00000"/>
              </a:buClr>
              <a:buSzPts val="2800"/>
              <a:buFont typeface="Arial"/>
              <a:buChar char="•"/>
            </a:pPr>
            <a:r>
              <a:rPr lang="en-US" sz="2800" dirty="0">
                <a:solidFill>
                  <a:schemeClr val="dk1"/>
                </a:solidFill>
                <a:latin typeface="Calibri"/>
                <a:ea typeface="Calibri"/>
                <a:cs typeface="Calibri"/>
                <a:sym typeface="Calibri"/>
              </a:rPr>
              <a:t>Aws</a:t>
            </a:r>
            <a:endParaRPr sz="2800" dirty="0">
              <a:solidFill>
                <a:schemeClr val="dk1"/>
              </a:solidFill>
              <a:latin typeface="Calibri"/>
              <a:ea typeface="Calibri"/>
              <a:cs typeface="Calibri"/>
              <a:sym typeface="Calibri"/>
            </a:endParaRPr>
          </a:p>
          <a:p>
            <a:pPr marL="228600" marR="0" lvl="0" indent="-228600" algn="l" rtl="0">
              <a:lnSpc>
                <a:spcPct val="90000"/>
              </a:lnSpc>
              <a:spcBef>
                <a:spcPts val="1000"/>
              </a:spcBef>
              <a:spcAft>
                <a:spcPts val="0"/>
              </a:spcAft>
              <a:buClr>
                <a:srgbClr val="C00000"/>
              </a:buClr>
              <a:buSzPts val="2800"/>
              <a:buFont typeface="Arial"/>
              <a:buChar char="•"/>
            </a:pPr>
            <a:r>
              <a:rPr lang="en-US" sz="2800" dirty="0" err="1">
                <a:solidFill>
                  <a:schemeClr val="dk1"/>
                </a:solidFill>
                <a:latin typeface="Calibri"/>
                <a:ea typeface="Calibri"/>
                <a:cs typeface="Calibri"/>
                <a:sym typeface="Calibri"/>
              </a:rPr>
              <a:t>Blynk</a:t>
            </a:r>
            <a:endParaRPr sz="2800" dirty="0">
              <a:solidFill>
                <a:schemeClr val="dk1"/>
              </a:solidFill>
              <a:latin typeface="Calibri"/>
              <a:ea typeface="Calibri"/>
              <a:cs typeface="Calibri"/>
              <a:sym typeface="Calibri"/>
            </a:endParaRPr>
          </a:p>
          <a:p>
            <a:pPr marL="457200" marR="0" lvl="0" indent="0" algn="l" rtl="0">
              <a:lnSpc>
                <a:spcPct val="90000"/>
              </a:lnSpc>
              <a:spcBef>
                <a:spcPts val="1000"/>
              </a:spcBef>
              <a:spcAft>
                <a:spcPts val="0"/>
              </a:spcAft>
              <a:buNone/>
            </a:pPr>
            <a:endParaRPr sz="2800" dirty="0">
              <a:solidFill>
                <a:schemeClr val="dk1"/>
              </a:solidFill>
              <a:latin typeface="Calibri"/>
              <a:ea typeface="Calibri"/>
              <a:cs typeface="Calibri"/>
              <a:sym typeface="Calibri"/>
            </a:endParaRPr>
          </a:p>
          <a:p>
            <a:pPr marL="0" marR="0" lvl="0" indent="0" algn="l" rtl="0">
              <a:lnSpc>
                <a:spcPct val="90000"/>
              </a:lnSpc>
              <a:spcBef>
                <a:spcPts val="1000"/>
              </a:spcBef>
              <a:spcAft>
                <a:spcPts val="0"/>
              </a:spcAft>
              <a:buNone/>
            </a:pPr>
            <a:endParaRPr sz="2800" dirty="0">
              <a:solidFill>
                <a:schemeClr val="dk1"/>
              </a:solidFill>
              <a:latin typeface="Calibri"/>
              <a:ea typeface="Calibri"/>
              <a:cs typeface="Calibri"/>
              <a:sym typeface="Calibri"/>
            </a:endParaRPr>
          </a:p>
          <a:p>
            <a:pPr marL="228600" marR="0" lvl="0" indent="-50800" algn="l" rtl="0">
              <a:lnSpc>
                <a:spcPct val="90000"/>
              </a:lnSpc>
              <a:spcBef>
                <a:spcPts val="1000"/>
              </a:spcBef>
              <a:spcAft>
                <a:spcPts val="0"/>
              </a:spcAft>
              <a:buClr>
                <a:schemeClr val="dk1"/>
              </a:buClr>
              <a:buSzPts val="2800"/>
              <a:buFont typeface="Arial"/>
              <a:buNone/>
            </a:pPr>
            <a:endParaRPr sz="2800" dirty="0">
              <a:solidFill>
                <a:schemeClr val="dk1"/>
              </a:solidFill>
              <a:latin typeface="Calibri"/>
              <a:ea typeface="Calibri"/>
              <a:cs typeface="Calibri"/>
              <a:sym typeface="Calibri"/>
            </a:endParaRPr>
          </a:p>
          <a:p>
            <a:pPr marL="285750" marR="0" lvl="0" indent="-171450" algn="l" rtl="0">
              <a:spcBef>
                <a:spcPts val="0"/>
              </a:spcBef>
              <a:spcAft>
                <a:spcPts val="0"/>
              </a:spcAft>
              <a:buClr>
                <a:schemeClr val="dk1"/>
              </a:buClr>
              <a:buSzPts val="1800"/>
              <a:buFont typeface="Arial"/>
              <a:buNone/>
            </a:pPr>
            <a:endParaRPr sz="1800" dirty="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17"/>
          <p:cNvSpPr txBox="1">
            <a:spLocks noGrp="1"/>
          </p:cNvSpPr>
          <p:nvPr>
            <p:ph type="title"/>
          </p:nvPr>
        </p:nvSpPr>
        <p:spPr>
          <a:xfrm>
            <a:off x="119743" y="-124732"/>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Calibri"/>
              <a:buNone/>
            </a:pPr>
            <a:r>
              <a:rPr lang="en-US" sz="4000" b="1"/>
              <a:t>METHODOLOGY</a:t>
            </a:r>
            <a:endParaRPr sz="4000" b="1"/>
          </a:p>
        </p:txBody>
      </p:sp>
      <p:pic>
        <p:nvPicPr>
          <p:cNvPr id="131" name="Google Shape;131;p17"/>
          <p:cNvPicPr preferRelativeResize="0"/>
          <p:nvPr/>
        </p:nvPicPr>
        <p:blipFill>
          <a:blip r:embed="rId3">
            <a:alphaModFix/>
          </a:blip>
          <a:stretch>
            <a:fillRect/>
          </a:stretch>
        </p:blipFill>
        <p:spPr>
          <a:xfrm>
            <a:off x="3357075" y="949425"/>
            <a:ext cx="5022376" cy="59085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18"/>
          <p:cNvSpPr txBox="1">
            <a:spLocks noGrp="1"/>
          </p:cNvSpPr>
          <p:nvPr>
            <p:ph type="title"/>
          </p:nvPr>
        </p:nvSpPr>
        <p:spPr>
          <a:xfrm>
            <a:off x="838200" y="5335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Calibri"/>
              <a:buNone/>
            </a:pPr>
            <a:r>
              <a:rPr lang="en-US" sz="4000" b="1"/>
              <a:t>IMPLEMENTATION</a:t>
            </a:r>
            <a:endParaRPr sz="4000" b="1"/>
          </a:p>
        </p:txBody>
      </p:sp>
      <p:sp>
        <p:nvSpPr>
          <p:cNvPr id="137" name="Google Shape;137;p18"/>
          <p:cNvSpPr txBox="1">
            <a:spLocks noGrp="1"/>
          </p:cNvSpPr>
          <p:nvPr>
            <p:ph type="body" idx="1"/>
          </p:nvPr>
        </p:nvSpPr>
        <p:spPr>
          <a:xfrm>
            <a:off x="838200" y="1378918"/>
            <a:ext cx="11146971" cy="8663154"/>
          </a:xfrm>
          <a:prstGeom prst="rect">
            <a:avLst/>
          </a:prstGeom>
          <a:noFill/>
          <a:ln>
            <a:noFill/>
          </a:ln>
        </p:spPr>
        <p:txBody>
          <a:bodyPr spcFirstLastPara="1" wrap="square" lIns="91425" tIns="45700" rIns="91425" bIns="45700" anchor="t" anchorCtr="0">
            <a:normAutofit/>
          </a:bodyPr>
          <a:lstStyle/>
          <a:p>
            <a:pPr marL="342900" lvl="0" indent="-342900" algn="l" rtl="0">
              <a:lnSpc>
                <a:spcPct val="115000"/>
              </a:lnSpc>
              <a:spcBef>
                <a:spcPts val="0"/>
              </a:spcBef>
              <a:spcAft>
                <a:spcPts val="0"/>
              </a:spcAft>
              <a:buClr>
                <a:srgbClr val="000000"/>
              </a:buClr>
              <a:buSzPts val="2800"/>
              <a:buFont typeface="Arial"/>
              <a:buChar char="•"/>
            </a:pPr>
            <a:r>
              <a:rPr lang="en-US" b="1">
                <a:solidFill>
                  <a:srgbClr val="000000"/>
                </a:solidFill>
              </a:rPr>
              <a:t>ESP32:</a:t>
            </a:r>
            <a:endParaRPr/>
          </a:p>
          <a:p>
            <a:pPr marL="228600" lvl="0" indent="0" algn="l" rtl="0">
              <a:lnSpc>
                <a:spcPct val="115000"/>
              </a:lnSpc>
              <a:spcBef>
                <a:spcPts val="1000"/>
              </a:spcBef>
              <a:spcAft>
                <a:spcPts val="0"/>
              </a:spcAft>
              <a:buClr>
                <a:srgbClr val="000000"/>
              </a:buClr>
              <a:buSzPts val="2800"/>
              <a:buNone/>
            </a:pPr>
            <a:r>
              <a:rPr lang="en-US">
                <a:solidFill>
                  <a:srgbClr val="000000"/>
                </a:solidFill>
              </a:rPr>
              <a:t>Esp32 collects the data from the sensor and operates the output devices and also sends the data to the cloud.</a:t>
            </a:r>
            <a:endParaRPr/>
          </a:p>
          <a:p>
            <a:pPr marL="342900" lvl="0" indent="-342900" algn="l" rtl="0">
              <a:lnSpc>
                <a:spcPct val="115000"/>
              </a:lnSpc>
              <a:spcBef>
                <a:spcPts val="1000"/>
              </a:spcBef>
              <a:spcAft>
                <a:spcPts val="0"/>
              </a:spcAft>
              <a:buClr>
                <a:srgbClr val="000000"/>
              </a:buClr>
              <a:buSzPts val="2800"/>
              <a:buFont typeface="Arial"/>
              <a:buChar char="•"/>
            </a:pPr>
            <a:r>
              <a:rPr lang="en-US" b="1">
                <a:solidFill>
                  <a:srgbClr val="000000"/>
                </a:solidFill>
              </a:rPr>
              <a:t>Ultrasonic sensors:</a:t>
            </a:r>
            <a:endParaRPr/>
          </a:p>
          <a:p>
            <a:pPr marL="0" lvl="0" indent="0" algn="l" rtl="0">
              <a:lnSpc>
                <a:spcPct val="115000"/>
              </a:lnSpc>
              <a:spcBef>
                <a:spcPts val="1000"/>
              </a:spcBef>
              <a:spcAft>
                <a:spcPts val="0"/>
              </a:spcAft>
              <a:buClr>
                <a:srgbClr val="000000"/>
              </a:buClr>
              <a:buSzPts val="2800"/>
              <a:buNone/>
            </a:pPr>
            <a:r>
              <a:rPr lang="en-US">
                <a:solidFill>
                  <a:srgbClr val="000000"/>
                </a:solidFill>
              </a:rPr>
              <a:t>        Ultrasonic sensors are used to detect traffic.</a:t>
            </a:r>
            <a:endParaRPr/>
          </a:p>
          <a:p>
            <a:pPr marL="342900" lvl="0" indent="-342900" algn="l" rtl="0">
              <a:lnSpc>
                <a:spcPct val="115000"/>
              </a:lnSpc>
              <a:spcBef>
                <a:spcPts val="1000"/>
              </a:spcBef>
              <a:spcAft>
                <a:spcPts val="0"/>
              </a:spcAft>
              <a:buClr>
                <a:srgbClr val="000000"/>
              </a:buClr>
              <a:buSzPts val="2800"/>
              <a:buFont typeface="Arial"/>
              <a:buChar char="•"/>
            </a:pPr>
            <a:r>
              <a:rPr lang="en-US" b="1">
                <a:solidFill>
                  <a:srgbClr val="000000"/>
                </a:solidFill>
              </a:rPr>
              <a:t>LED Lights:</a:t>
            </a:r>
            <a:endParaRPr/>
          </a:p>
          <a:p>
            <a:pPr marL="0" lvl="0" indent="0" algn="l" rtl="0">
              <a:lnSpc>
                <a:spcPct val="115000"/>
              </a:lnSpc>
              <a:spcBef>
                <a:spcPts val="1000"/>
              </a:spcBef>
              <a:spcAft>
                <a:spcPts val="0"/>
              </a:spcAft>
              <a:buClr>
                <a:srgbClr val="000000"/>
              </a:buClr>
              <a:buSzPts val="2800"/>
              <a:buNone/>
            </a:pPr>
            <a:r>
              <a:rPr lang="en-US">
                <a:solidFill>
                  <a:srgbClr val="000000"/>
                </a:solidFill>
              </a:rPr>
              <a:t>        Led lights are used to describe the traffic signal.</a:t>
            </a:r>
            <a:endParaRPr/>
          </a:p>
          <a:p>
            <a:pPr marL="0" lvl="0" indent="0" algn="l" rtl="0">
              <a:lnSpc>
                <a:spcPct val="90000"/>
              </a:lnSpc>
              <a:spcBef>
                <a:spcPts val="1000"/>
              </a:spcBef>
              <a:spcAft>
                <a:spcPts val="0"/>
              </a:spcAft>
              <a:buClr>
                <a:schemeClr val="dk1"/>
              </a:buClr>
              <a:buSzPts val="2800"/>
              <a:buNone/>
            </a:pP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19"/>
          <p:cNvSpPr txBox="1"/>
          <p:nvPr/>
        </p:nvSpPr>
        <p:spPr>
          <a:xfrm>
            <a:off x="852487" y="1839575"/>
            <a:ext cx="10846200" cy="2753700"/>
          </a:xfrm>
          <a:prstGeom prst="rect">
            <a:avLst/>
          </a:prstGeom>
          <a:noFill/>
          <a:ln>
            <a:noFill/>
          </a:ln>
        </p:spPr>
        <p:txBody>
          <a:bodyPr spcFirstLastPara="1" wrap="square" lIns="91425" tIns="45700" rIns="91425" bIns="45700" anchor="t" anchorCtr="0">
            <a:spAutoFit/>
          </a:bodyPr>
          <a:lstStyle/>
          <a:p>
            <a:pPr marL="342900" marR="0" lvl="0" indent="-342900" algn="l" rtl="0">
              <a:lnSpc>
                <a:spcPct val="115000"/>
              </a:lnSpc>
              <a:spcBef>
                <a:spcPts val="0"/>
              </a:spcBef>
              <a:spcAft>
                <a:spcPts val="0"/>
              </a:spcAft>
              <a:buClr>
                <a:srgbClr val="000000"/>
              </a:buClr>
              <a:buSzPts val="2800"/>
              <a:buFont typeface="Arial"/>
              <a:buChar char="•"/>
            </a:pPr>
            <a:r>
              <a:rPr lang="en-US" sz="2800" b="1">
                <a:latin typeface="Calibri"/>
                <a:ea typeface="Calibri"/>
                <a:cs typeface="Calibri"/>
                <a:sym typeface="Calibri"/>
              </a:rPr>
              <a:t>Resistors:</a:t>
            </a:r>
            <a:endParaRPr sz="2800">
              <a:solidFill>
                <a:schemeClr val="dk1"/>
              </a:solidFill>
              <a:latin typeface="Calibri"/>
              <a:ea typeface="Calibri"/>
              <a:cs typeface="Calibri"/>
              <a:sym typeface="Calibri"/>
            </a:endParaRPr>
          </a:p>
          <a:p>
            <a:pPr marL="0" marR="0" lvl="0" indent="0" algn="l" rtl="0">
              <a:lnSpc>
                <a:spcPct val="115000"/>
              </a:lnSpc>
              <a:spcBef>
                <a:spcPts val="0"/>
              </a:spcBef>
              <a:spcAft>
                <a:spcPts val="0"/>
              </a:spcAft>
              <a:buNone/>
            </a:pPr>
            <a:r>
              <a:rPr lang="en-US" sz="2800">
                <a:solidFill>
                  <a:srgbClr val="000000"/>
                </a:solidFill>
                <a:latin typeface="Calibri"/>
                <a:ea typeface="Calibri"/>
                <a:cs typeface="Calibri"/>
                <a:sym typeface="Calibri"/>
              </a:rPr>
              <a:t>        </a:t>
            </a:r>
            <a:r>
              <a:rPr lang="en-US" sz="2800">
                <a:latin typeface="Calibri"/>
                <a:ea typeface="Calibri"/>
                <a:cs typeface="Calibri"/>
                <a:sym typeface="Calibri"/>
              </a:rPr>
              <a:t>Used to control the current flow to the LED.</a:t>
            </a:r>
            <a:endParaRPr sz="2800">
              <a:solidFill>
                <a:schemeClr val="dk1"/>
              </a:solidFill>
              <a:latin typeface="Calibri"/>
              <a:ea typeface="Calibri"/>
              <a:cs typeface="Calibri"/>
              <a:sym typeface="Calibri"/>
            </a:endParaRPr>
          </a:p>
          <a:p>
            <a:pPr marL="342900" marR="0" lvl="0" indent="-342900" algn="l" rtl="0">
              <a:lnSpc>
                <a:spcPct val="115000"/>
              </a:lnSpc>
              <a:spcBef>
                <a:spcPts val="0"/>
              </a:spcBef>
              <a:spcAft>
                <a:spcPts val="0"/>
              </a:spcAft>
              <a:buClr>
                <a:srgbClr val="000000"/>
              </a:buClr>
              <a:buSzPts val="2800"/>
              <a:buFont typeface="Arial"/>
              <a:buChar char="•"/>
            </a:pPr>
            <a:r>
              <a:rPr lang="en-US" sz="2800" b="1">
                <a:latin typeface="Calibri"/>
                <a:ea typeface="Calibri"/>
                <a:cs typeface="Calibri"/>
                <a:sym typeface="Calibri"/>
              </a:rPr>
              <a:t>Battery:</a:t>
            </a:r>
            <a:endParaRPr sz="2800">
              <a:solidFill>
                <a:schemeClr val="dk1"/>
              </a:solidFill>
              <a:latin typeface="Calibri"/>
              <a:ea typeface="Calibri"/>
              <a:cs typeface="Calibri"/>
              <a:sym typeface="Calibri"/>
            </a:endParaRPr>
          </a:p>
          <a:p>
            <a:pPr marL="0" marR="0" lvl="0" indent="0" algn="l" rtl="0">
              <a:lnSpc>
                <a:spcPct val="115000"/>
              </a:lnSpc>
              <a:spcBef>
                <a:spcPts val="0"/>
              </a:spcBef>
              <a:spcAft>
                <a:spcPts val="0"/>
              </a:spcAft>
              <a:buNone/>
            </a:pPr>
            <a:r>
              <a:rPr lang="en-US" sz="2800">
                <a:solidFill>
                  <a:srgbClr val="000000"/>
                </a:solidFill>
                <a:latin typeface="Calibri"/>
                <a:ea typeface="Calibri"/>
                <a:cs typeface="Calibri"/>
                <a:sym typeface="Calibri"/>
              </a:rPr>
              <a:t>        </a:t>
            </a:r>
            <a:r>
              <a:rPr lang="en-US" sz="2800">
                <a:latin typeface="Calibri"/>
                <a:ea typeface="Calibri"/>
                <a:cs typeface="Calibri"/>
                <a:sym typeface="Calibri"/>
              </a:rPr>
              <a:t>to provide power for ultrasonic sensors and LED.</a:t>
            </a:r>
            <a:endParaRPr sz="2800">
              <a:solidFill>
                <a:schemeClr val="dk1"/>
              </a:solidFill>
              <a:latin typeface="Calibri"/>
              <a:ea typeface="Calibri"/>
              <a:cs typeface="Calibri"/>
              <a:sym typeface="Calibri"/>
            </a:endParaRPr>
          </a:p>
          <a:p>
            <a:pPr marL="0" marR="0" lvl="0" indent="0" algn="l" rtl="0">
              <a:lnSpc>
                <a:spcPct val="115000"/>
              </a:lnSpc>
              <a:spcBef>
                <a:spcPts val="0"/>
              </a:spcBef>
              <a:spcAft>
                <a:spcPts val="0"/>
              </a:spcAft>
              <a:buNone/>
            </a:pPr>
            <a:endParaRPr/>
          </a:p>
          <a:p>
            <a:pPr marL="0" marR="0" lvl="0" indent="0" algn="l" rtl="0">
              <a:lnSpc>
                <a:spcPct val="115000"/>
              </a:lnSpc>
              <a:spcBef>
                <a:spcPts val="0"/>
              </a:spcBef>
              <a:spcAft>
                <a:spcPts val="0"/>
              </a:spcAft>
              <a:buNone/>
            </a:pPr>
            <a:endParaRPr sz="2800">
              <a:solidFill>
                <a:schemeClr val="dk1"/>
              </a:solidFill>
              <a:latin typeface="Calibri"/>
              <a:ea typeface="Calibri"/>
              <a:cs typeface="Calibri"/>
              <a:sym typeface="Calibri"/>
            </a:endParaRPr>
          </a:p>
        </p:txBody>
      </p:sp>
      <p:sp>
        <p:nvSpPr>
          <p:cNvPr id="143" name="Google Shape;143;p19"/>
          <p:cNvSpPr txBox="1"/>
          <p:nvPr/>
        </p:nvSpPr>
        <p:spPr>
          <a:xfrm>
            <a:off x="838200" y="399712"/>
            <a:ext cx="10515600" cy="1325563"/>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chemeClr val="dk1"/>
              </a:buClr>
              <a:buSzPts val="4000"/>
              <a:buFont typeface="Calibri"/>
              <a:buNone/>
            </a:pPr>
            <a:r>
              <a:rPr lang="en-US" sz="4000" b="1">
                <a:solidFill>
                  <a:schemeClr val="dk1"/>
                </a:solidFill>
                <a:latin typeface="Calibri"/>
                <a:ea typeface="Calibri"/>
                <a:cs typeface="Calibri"/>
                <a:sym typeface="Calibri"/>
              </a:rPr>
              <a:t>IMPLEMENTATION</a:t>
            </a:r>
            <a:endParaRPr sz="4000" b="1">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20"/>
          <p:cNvSpPr txBox="1">
            <a:spLocks noGrp="1"/>
          </p:cNvSpPr>
          <p:nvPr>
            <p:ph type="title"/>
          </p:nvPr>
        </p:nvSpPr>
        <p:spPr>
          <a:xfrm>
            <a:off x="364186" y="54881"/>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sz="4400" b="1"/>
              <a:t>CIRCUIT DIAGRAM</a:t>
            </a:r>
            <a:endParaRPr/>
          </a:p>
        </p:txBody>
      </p:sp>
      <p:pic>
        <p:nvPicPr>
          <p:cNvPr id="149" name="Google Shape;149;p20"/>
          <p:cNvPicPr preferRelativeResize="0"/>
          <p:nvPr/>
        </p:nvPicPr>
        <p:blipFill>
          <a:blip r:embed="rId3">
            <a:alphaModFix/>
          </a:blip>
          <a:stretch>
            <a:fillRect/>
          </a:stretch>
        </p:blipFill>
        <p:spPr>
          <a:xfrm>
            <a:off x="2817208" y="903525"/>
            <a:ext cx="6557576" cy="586594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21"/>
          <p:cNvSpPr txBox="1">
            <a:spLocks noGrp="1"/>
          </p:cNvSpPr>
          <p:nvPr>
            <p:ph type="title"/>
          </p:nvPr>
        </p:nvSpPr>
        <p:spPr>
          <a:xfrm>
            <a:off x="478971" y="0"/>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Calibri"/>
              <a:buNone/>
            </a:pPr>
            <a:r>
              <a:rPr lang="en-US" sz="4000" b="1"/>
              <a:t>FINAL MODEL</a:t>
            </a:r>
            <a:endParaRPr sz="4000"/>
          </a:p>
        </p:txBody>
      </p:sp>
      <p:pic>
        <p:nvPicPr>
          <p:cNvPr id="155" name="Google Shape;155;p21"/>
          <p:cNvPicPr preferRelativeResize="0"/>
          <p:nvPr/>
        </p:nvPicPr>
        <p:blipFill>
          <a:blip r:embed="rId3">
            <a:alphaModFix/>
          </a:blip>
          <a:stretch>
            <a:fillRect/>
          </a:stretch>
        </p:blipFill>
        <p:spPr>
          <a:xfrm>
            <a:off x="2806650" y="1325563"/>
            <a:ext cx="6970182" cy="5227637"/>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2"/>
          <p:cNvSpPr txBox="1"/>
          <p:nvPr/>
        </p:nvSpPr>
        <p:spPr>
          <a:xfrm>
            <a:off x="1012350" y="2753999"/>
            <a:ext cx="10255200" cy="2004000"/>
          </a:xfrm>
          <a:prstGeom prst="rect">
            <a:avLst/>
          </a:prstGeom>
          <a:noFill/>
          <a:ln>
            <a:noFill/>
          </a:ln>
        </p:spPr>
        <p:txBody>
          <a:bodyPr spcFirstLastPara="1" wrap="square" lIns="91425" tIns="45700" rIns="91425" bIns="45700" anchor="t" anchorCtr="0">
            <a:spAutoFit/>
          </a:bodyPr>
          <a:lstStyle/>
          <a:p>
            <a:pPr marL="457200" lvl="0" indent="0" algn="l" rtl="0">
              <a:lnSpc>
                <a:spcPct val="110000"/>
              </a:lnSpc>
              <a:spcBef>
                <a:spcPts val="0"/>
              </a:spcBef>
              <a:spcAft>
                <a:spcPts val="1200"/>
              </a:spcAft>
              <a:buNone/>
            </a:pPr>
            <a:r>
              <a:rPr lang="en-US" sz="2300">
                <a:solidFill>
                  <a:schemeClr val="dk2"/>
                </a:solidFill>
                <a:latin typeface="Calibri"/>
                <a:ea typeface="Calibri"/>
                <a:cs typeface="Calibri"/>
                <a:sym typeface="Calibri"/>
              </a:rPr>
              <a:t>In conclusion, the IoT-based traffic monitoring system we have designed using ESP32 and ultrasonic sensors offers a sophisticated solution for modern traffic management. By leveraging AWS server for data analysis, we enable real-time monitoring and actionable insights that can greatly enhance traffic flow efficiency and safety.</a:t>
            </a:r>
            <a:endParaRPr sz="3800">
              <a:solidFill>
                <a:schemeClr val="dk1"/>
              </a:solidFill>
              <a:latin typeface="Calibri"/>
              <a:ea typeface="Calibri"/>
              <a:cs typeface="Calibri"/>
              <a:sym typeface="Calibri"/>
            </a:endParaRPr>
          </a:p>
        </p:txBody>
      </p:sp>
      <p:sp>
        <p:nvSpPr>
          <p:cNvPr id="161" name="Google Shape;161;p22"/>
          <p:cNvSpPr txBox="1">
            <a:spLocks noGrp="1"/>
          </p:cNvSpPr>
          <p:nvPr>
            <p:ph type="title"/>
          </p:nvPr>
        </p:nvSpPr>
        <p:spPr>
          <a:xfrm>
            <a:off x="838200" y="0"/>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Calibri"/>
              <a:buNone/>
            </a:pPr>
            <a:r>
              <a:rPr lang="en-US" sz="4000" b="1">
                <a:latin typeface="Calibri"/>
                <a:ea typeface="Calibri"/>
                <a:cs typeface="Calibri"/>
                <a:sym typeface="Calibri"/>
              </a:rPr>
              <a:t>RESULT:</a:t>
            </a:r>
            <a:endParaRPr sz="4000" b="1">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23"/>
          <p:cNvSpPr txBox="1">
            <a:spLocks noGrp="1"/>
          </p:cNvSpPr>
          <p:nvPr>
            <p:ph type="title"/>
          </p:nvPr>
        </p:nvSpPr>
        <p:spPr>
          <a:xfrm>
            <a:off x="838200" y="195309"/>
            <a:ext cx="10515600" cy="836658"/>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n-US"/>
              <a:t>Problem faced and Rectified</a:t>
            </a:r>
            <a:endParaRPr/>
          </a:p>
        </p:txBody>
      </p:sp>
      <p:graphicFrame>
        <p:nvGraphicFramePr>
          <p:cNvPr id="167" name="Google Shape;167;p23"/>
          <p:cNvGraphicFramePr/>
          <p:nvPr/>
        </p:nvGraphicFramePr>
        <p:xfrm>
          <a:off x="1927497" y="1581815"/>
          <a:ext cx="8128000" cy="3022630"/>
        </p:xfrm>
        <a:graphic>
          <a:graphicData uri="http://schemas.openxmlformats.org/drawingml/2006/table">
            <a:tbl>
              <a:tblPr firstRow="1" bandRow="1">
                <a:noFill/>
                <a:tableStyleId>{89240CED-B576-4F81-966E-D68157E6609A}</a:tableStyleId>
              </a:tblPr>
              <a:tblGrid>
                <a:gridCol w="4064000">
                  <a:extLst>
                    <a:ext uri="{9D8B030D-6E8A-4147-A177-3AD203B41FA5}">
                      <a16:colId xmlns:a16="http://schemas.microsoft.com/office/drawing/2014/main" val="20000"/>
                    </a:ext>
                  </a:extLst>
                </a:gridCol>
                <a:gridCol w="4064000">
                  <a:extLst>
                    <a:ext uri="{9D8B030D-6E8A-4147-A177-3AD203B41FA5}">
                      <a16:colId xmlns:a16="http://schemas.microsoft.com/office/drawing/2014/main" val="20001"/>
                    </a:ext>
                  </a:extLst>
                </a:gridCol>
              </a:tblGrid>
              <a:tr h="370850">
                <a:tc>
                  <a:txBody>
                    <a:bodyPr/>
                    <a:lstStyle/>
                    <a:p>
                      <a:pPr marL="0" marR="0" lvl="0" indent="0" algn="ctr" rtl="0">
                        <a:spcBef>
                          <a:spcPts val="0"/>
                        </a:spcBef>
                        <a:spcAft>
                          <a:spcPts val="0"/>
                        </a:spcAft>
                        <a:buNone/>
                      </a:pPr>
                      <a:r>
                        <a:rPr lang="en-US" sz="1800" u="none" strike="noStrike" cap="none"/>
                        <a:t>Problem faced </a:t>
                      </a:r>
                      <a:endParaRPr sz="1800" u="none" strike="noStrike" cap="none"/>
                    </a:p>
                  </a:txBody>
                  <a:tcPr marL="91450" marR="91450" marT="45725" marB="45725"/>
                </a:tc>
                <a:tc>
                  <a:txBody>
                    <a:bodyPr/>
                    <a:lstStyle/>
                    <a:p>
                      <a:pPr marL="0" marR="0" lvl="0" indent="0" algn="ctr" rtl="0">
                        <a:spcBef>
                          <a:spcPts val="0"/>
                        </a:spcBef>
                        <a:spcAft>
                          <a:spcPts val="0"/>
                        </a:spcAft>
                        <a:buNone/>
                      </a:pPr>
                      <a:r>
                        <a:rPr lang="en-US" sz="1800" u="none" strike="noStrike" cap="none"/>
                        <a:t>Rectification solution</a:t>
                      </a:r>
                      <a:endParaRPr sz="1800" u="none" strike="noStrike" cap="none"/>
                    </a:p>
                  </a:txBody>
                  <a:tcPr marL="91450" marR="91450" marT="45725" marB="45725"/>
                </a:tc>
                <a:extLst>
                  <a:ext uri="{0D108BD9-81ED-4DB2-BD59-A6C34878D82A}">
                    <a16:rowId xmlns:a16="http://schemas.microsoft.com/office/drawing/2014/main" val="10000"/>
                  </a:ext>
                </a:extLst>
              </a:tr>
              <a:tr h="370850">
                <a:tc>
                  <a:txBody>
                    <a:bodyPr/>
                    <a:lstStyle/>
                    <a:p>
                      <a:pPr marL="457200" marR="0" lvl="0" indent="-342900" algn="l" rtl="0">
                        <a:spcBef>
                          <a:spcPts val="0"/>
                        </a:spcBef>
                        <a:spcAft>
                          <a:spcPts val="0"/>
                        </a:spcAft>
                        <a:buSzPts val="1800"/>
                        <a:buAutoNum type="arabicPeriod"/>
                      </a:pPr>
                      <a:r>
                        <a:rPr lang="en-US" sz="1800"/>
                        <a:t>Power shortage</a:t>
                      </a:r>
                      <a:endParaRPr sz="1800" u="none" strike="noStrike" cap="none"/>
                    </a:p>
                  </a:txBody>
                  <a:tcPr marL="91450" marR="91450" marT="45725" marB="45725"/>
                </a:tc>
                <a:tc>
                  <a:txBody>
                    <a:bodyPr/>
                    <a:lstStyle/>
                    <a:p>
                      <a:pPr marL="0" marR="0" lvl="0" indent="0" algn="l" rtl="0">
                        <a:spcBef>
                          <a:spcPts val="0"/>
                        </a:spcBef>
                        <a:spcAft>
                          <a:spcPts val="0"/>
                        </a:spcAft>
                        <a:buNone/>
                      </a:pPr>
                      <a:r>
                        <a:rPr lang="en-US" sz="1800"/>
                        <a:t>added an additional battery to overcome power shortage</a:t>
                      </a:r>
                      <a:endParaRPr sz="1800" u="none" strike="noStrike" cap="none"/>
                    </a:p>
                  </a:txBody>
                  <a:tcPr marL="91450" marR="91450" marT="45725" marB="45725"/>
                </a:tc>
                <a:extLst>
                  <a:ext uri="{0D108BD9-81ED-4DB2-BD59-A6C34878D82A}">
                    <a16:rowId xmlns:a16="http://schemas.microsoft.com/office/drawing/2014/main" val="10001"/>
                  </a:ext>
                </a:extLst>
              </a:tr>
              <a:tr h="370850">
                <a:tc>
                  <a:txBody>
                    <a:bodyPr/>
                    <a:lstStyle/>
                    <a:p>
                      <a:pPr marL="0" marR="0" lvl="0" indent="0" algn="l" rtl="0">
                        <a:spcBef>
                          <a:spcPts val="0"/>
                        </a:spcBef>
                        <a:spcAft>
                          <a:spcPts val="0"/>
                        </a:spcAft>
                        <a:buNone/>
                      </a:pPr>
                      <a:r>
                        <a:rPr lang="en-US" sz="1800" u="none" strike="noStrike" cap="none"/>
                        <a:t>2.</a:t>
                      </a:r>
                      <a:r>
                        <a:rPr lang="en-US" sz="1800"/>
                        <a:t>  Data management and analysis</a:t>
                      </a:r>
                      <a:endParaRPr sz="1800" u="none" strike="noStrike" cap="none"/>
                    </a:p>
                  </a:txBody>
                  <a:tcPr marL="91450" marR="91450" marT="45725" marB="45725"/>
                </a:tc>
                <a:tc>
                  <a:txBody>
                    <a:bodyPr/>
                    <a:lstStyle/>
                    <a:p>
                      <a:pPr marL="0" marR="0" lvl="0" indent="0" algn="l" rtl="0">
                        <a:spcBef>
                          <a:spcPts val="0"/>
                        </a:spcBef>
                        <a:spcAft>
                          <a:spcPts val="0"/>
                        </a:spcAft>
                        <a:buNone/>
                      </a:pPr>
                      <a:r>
                        <a:rPr lang="en-US" sz="1800" dirty="0"/>
                        <a:t>Collecting and analyzing data from traffic sensors and control devices is crucial for effective traffic management. Implementing robust data management practices and using analytics tools can help derive valuable insights from the data.</a:t>
                      </a:r>
                      <a:endParaRPr sz="1800" u="none" strike="noStrike" cap="none" dirty="0"/>
                    </a:p>
                  </a:txBody>
                  <a:tcPr marL="91450" marR="91450" marT="45725" marB="45725"/>
                </a:tc>
                <a:extLst>
                  <a:ext uri="{0D108BD9-81ED-4DB2-BD59-A6C34878D82A}">
                    <a16:rowId xmlns:a16="http://schemas.microsoft.com/office/drawing/2014/main" val="10002"/>
                  </a:ext>
                </a:extLst>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5736</TotalTime>
  <Words>362</Words>
  <Application>Microsoft Office PowerPoint</Application>
  <PresentationFormat>Widescreen</PresentationFormat>
  <Paragraphs>50</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Times New Roman</vt:lpstr>
      <vt:lpstr>Office Theme</vt:lpstr>
      <vt:lpstr>IoT based Traffic Light Control and Monitoring System using ESP32, AWS and Blynk IoT</vt:lpstr>
      <vt:lpstr>INTRODUCTION </vt:lpstr>
      <vt:lpstr>Block diagram</vt:lpstr>
      <vt:lpstr>HARDWARE COMPONENTS</vt:lpstr>
      <vt:lpstr>METHODOLOGY</vt:lpstr>
      <vt:lpstr>IMPLEMENTATION</vt:lpstr>
      <vt:lpstr>PowerPoint Presentation</vt:lpstr>
      <vt:lpstr>CIRCUIT DIAGRAM</vt:lpstr>
      <vt:lpstr>FINAL MODEL</vt:lpstr>
      <vt:lpstr>RESULT:</vt:lpstr>
      <vt:lpstr>Problem faced and Rectified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IoT based Traffic Light Control and Monitoring System</dc:title>
  <dc:creator>Adhithya Ragunath</dc:creator>
  <cp:lastModifiedBy>Adhithya Ragunath</cp:lastModifiedBy>
  <cp:revision>5</cp:revision>
  <dcterms:modified xsi:type="dcterms:W3CDTF">2025-12-29T17:30:04Z</dcterms:modified>
</cp:coreProperties>
</file>